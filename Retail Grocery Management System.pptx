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77" r:id="rId5"/>
    <p:sldId id="279" r:id="rId6"/>
    <p:sldId id="280" r:id="rId7"/>
    <p:sldId id="275" r:id="rId8"/>
    <p:sldId id="276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8" r:id="rId25"/>
    <p:sldId id="259" r:id="rId26"/>
  </p:sldIdLst>
  <p:sldSz cx="12192000" cy="6858000"/>
  <p:notesSz cx="6858000" cy="9144000"/>
  <p:embeddedFontLst>
    <p:embeddedFont>
      <p:font typeface="Lato Black" panose="020F0502020204030203" pitchFamily="34" charset="0"/>
      <p:bold r:id="rId28"/>
      <p:boldItalic r:id="rId29"/>
    </p:embeddedFont>
    <p:embeddedFont>
      <p:font typeface="Libre Baskerville" panose="02000000000000000000" pitchFamily="2" charset="0"/>
      <p:regular r:id="rId30"/>
      <p:bold r:id="rId31"/>
      <p: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21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4430" userDrawn="1">
          <p15:clr>
            <a:srgbClr val="A4A3A4"/>
          </p15:clr>
        </p15:guide>
        <p15:guide id="4" orient="horz" pos="2296" userDrawn="1">
          <p15:clr>
            <a:srgbClr val="A4A3A4"/>
          </p15:clr>
        </p15:guide>
        <p15:guide id="5" orient="horz" pos="3022" userDrawn="1">
          <p15:clr>
            <a:srgbClr val="A4A3A4"/>
          </p15:clr>
        </p15:guide>
        <p15:guide id="6" pos="4226" userDrawn="1">
          <p15:clr>
            <a:srgbClr val="A4A3A4"/>
          </p15:clr>
        </p15:guide>
        <p15:guide id="7" orient="horz" pos="550" userDrawn="1">
          <p15:clr>
            <a:srgbClr val="A4A3A4"/>
          </p15:clr>
        </p15:guide>
        <p15:guide id="8" pos="7219" userDrawn="1">
          <p15:clr>
            <a:srgbClr val="A4A3A4"/>
          </p15:clr>
        </p15:guide>
        <p15:guide id="9" orient="horz" pos="65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2828"/>
    <a:srgbClr val="0B3C5D"/>
    <a:srgbClr val="004D40"/>
    <a:srgbClr val="1B5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321"/>
        <p:guide pos="325"/>
        <p:guide pos="4430"/>
        <p:guide orient="horz" pos="2296"/>
        <p:guide orient="horz" pos="3022"/>
        <p:guide pos="4226"/>
        <p:guide orient="horz" pos="550"/>
        <p:guide pos="7219"/>
        <p:guide orient="horz" pos="6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3024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anthosh-kumar-aug-ten-one" TargetMode="External"/><Relationship Id="rId7" Type="http://schemas.openxmlformats.org/officeDocument/2006/relationships/hyperlink" Target="https://github.com/jagadesh9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jagadeshwar-kakarla-18a0ba267/" TargetMode="External"/><Relationship Id="rId5" Type="http://schemas.openxmlformats.org/officeDocument/2006/relationships/hyperlink" Target="https://www.linkedin.com/in/mukthi-manohar-62b9223a3/" TargetMode="External"/><Relationship Id="rId4" Type="http://schemas.openxmlformats.org/officeDocument/2006/relationships/hyperlink" Target="https://github.com/Santhoshkumar-om?tab=overview&amp;from=2026-01-01&amp;to=2026-01-31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471949" y="2783922"/>
            <a:ext cx="11464413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>
              <a:buSzPts val="1800"/>
            </a:pPr>
            <a:r>
              <a:rPr lang="en-IN" sz="7200" b="1" dirty="0">
                <a:solidFill>
                  <a:srgbClr val="0B3C5D"/>
                </a:solidFill>
              </a:rPr>
              <a:t>Retail Grocery Management System</a:t>
            </a:r>
            <a:endParaRPr sz="7200" b="1" i="0" u="none" strike="noStrike" cap="none" dirty="0">
              <a:solidFill>
                <a:srgbClr val="0B3C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98;p1">
            <a:extLst>
              <a:ext uri="{FF2B5EF4-FFF2-40B4-BE49-F238E27FC236}">
                <a16:creationId xmlns:a16="http://schemas.microsoft.com/office/drawing/2014/main" id="{E6E4C99A-FE40-8A21-25DD-0F22D31711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05724"/>
            <a:ext cx="12190815" cy="276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427655" y="1200849"/>
            <a:ext cx="11685687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04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IN"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IN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Santhoshkumar (B.Tech_Mech)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048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3.5 years having experience in mechanical domain.</a:t>
            </a:r>
            <a:endParaRPr lang="en-US"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-IN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IN" sz="24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–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Link</a:t>
            </a:r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fontAlgn="base"/>
            <a:r>
              <a:rPr lang="en-IN" sz="2400" dirty="0">
                <a:solidFill>
                  <a:schemeClr val="accent3"/>
                </a:solidFill>
              </a:rPr>
              <a:t>-----------------------------------------------------------------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3"/>
                </a:solidFill>
              </a:rPr>
              <a:t> </a:t>
            </a: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Mukthi Manohar (Degree)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Linkedln - </a:t>
            </a:r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Mukthi Manohar | LinkedIn</a:t>
            </a:r>
            <a:endParaRPr lang="en-IN" sz="24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IN" sz="2400" b="1" dirty="0">
                <a:solidFill>
                  <a:schemeClr val="accent3"/>
                </a:solidFill>
              </a:rPr>
              <a:t>-----------------------------------------------------------------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</a:rPr>
              <a:t>Kakarla Jagadeshwar (B.Tech_CSE)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-IN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24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IN" sz="24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- </a:t>
            </a:r>
            <a:r>
              <a:rPr lang="en-IN" sz="24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IN" sz="240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5" y="576702"/>
            <a:ext cx="6099463" cy="6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44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</a:t>
            </a:r>
            <a:r>
              <a:rPr lang="en-IN" sz="44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Team Members :</a:t>
            </a:r>
            <a:endParaRPr lang="en-IN" sz="4400" b="0" i="0" u="none" strike="noStrike" cap="none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29242" y="1823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(This should be the PPT flow) 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429242" y="1343818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SQL query results with screenshots or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Final business insights and recommendations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dirty="0"/>
              <a:t>Q&amp;A Slide 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16A9E4-8897-FF8A-3134-9DA65330714B}"/>
              </a:ext>
            </a:extLst>
          </p:cNvPr>
          <p:cNvSpPr txBox="1"/>
          <p:nvPr/>
        </p:nvSpPr>
        <p:spPr>
          <a:xfrm>
            <a:off x="432620" y="246559"/>
            <a:ext cx="68355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Objective of the Project :</a:t>
            </a:r>
            <a:endParaRPr lang="en-IN" sz="4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5EBF3-E557-7273-E7F9-368C749ECB99}"/>
              </a:ext>
            </a:extLst>
          </p:cNvPr>
          <p:cNvSpPr txBox="1"/>
          <p:nvPr/>
        </p:nvSpPr>
        <p:spPr>
          <a:xfrm>
            <a:off x="432620" y="1720840"/>
            <a:ext cx="1065067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2400" dirty="0"/>
              <a:t>To design and implement a relational database for a grocery store.</a:t>
            </a:r>
            <a:br>
              <a:rPr lang="en-US" sz="2400" dirty="0"/>
            </a:b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2400" dirty="0"/>
              <a:t>To retrieve and manipulate data using SQL queries.</a:t>
            </a:r>
            <a:br>
              <a:rPr lang="en-US" sz="2400" dirty="0"/>
            </a:b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2400" dirty="0"/>
              <a:t>To perform data analysis for business insights such as top customers,</a:t>
            </a:r>
          </a:p>
          <a:p>
            <a:pPr fontAlgn="base"/>
            <a:r>
              <a:rPr lang="en-US" sz="2400" dirty="0"/>
              <a:t>     best-selling products, and revenue trends.</a:t>
            </a:r>
            <a:br>
              <a:rPr lang="en-US" sz="2400" dirty="0"/>
            </a:b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r>
              <a:rPr lang="en-US" sz="2400" dirty="0"/>
              <a:t>To practice using joins, aggregations, subqueries, and filtering techniques</a:t>
            </a:r>
            <a:r>
              <a:rPr lang="en-US" sz="2400" b="1" dirty="0"/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508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18BFC1-74C5-7C87-3B37-260E4D4EA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193893"/>
            <a:ext cx="5957777" cy="21749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A81D23-1790-FCD8-EC5F-ECF5FA375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775" y="1209232"/>
            <a:ext cx="5310359" cy="21749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47156B-E41F-9B75-AEA9-1D5B117EE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775" y="3507252"/>
            <a:ext cx="5382376" cy="27006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380EE6-4265-3558-8B35-198E4BF8A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38" y="3507252"/>
            <a:ext cx="5957777" cy="27006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F85647-DCD9-61A7-CB53-DBD2FAA6934B}"/>
              </a:ext>
            </a:extLst>
          </p:cNvPr>
          <p:cNvSpPr txBox="1"/>
          <p:nvPr/>
        </p:nvSpPr>
        <p:spPr>
          <a:xfrm>
            <a:off x="368454" y="424452"/>
            <a:ext cx="59577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Tables Structure </a:t>
            </a:r>
            <a:r>
              <a:rPr lang="en-IN" sz="4400" dirty="0">
                <a:solidFill>
                  <a:srgbClr val="FF0000"/>
                </a:solidFill>
                <a:latin typeface="+mj-lt"/>
                <a:ea typeface="Lato Black" panose="020F0502020204030203" pitchFamily="34" charset="0"/>
                <a:cs typeface="Lato Black" panose="020F0502020204030203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2120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343DE9-8DFD-B86B-317C-ECF560F46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9" y="835775"/>
            <a:ext cx="5983184" cy="24852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FE3894-2C5A-527C-8FBF-A794D04E2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9" y="3536950"/>
            <a:ext cx="5983184" cy="23551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2C04ED-2931-01DC-D391-625742A95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910" y="873125"/>
            <a:ext cx="5093109" cy="24852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903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8443A22-D2AE-4F06-9264-117636E53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89" y="1035703"/>
            <a:ext cx="5249008" cy="26292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CA1037-D8E6-79F6-AA86-C093974F8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302" y="1035702"/>
            <a:ext cx="5279320" cy="26292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223B4D7-6023-63BE-CCAB-2DEBC4845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89" y="3819837"/>
            <a:ext cx="5249008" cy="25340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7F2724-F795-C847-55FA-D6E41C6D6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302" y="3819837"/>
            <a:ext cx="5279320" cy="25385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E9BCAB-E673-E2C3-0744-177B9C38A0B2}"/>
              </a:ext>
            </a:extLst>
          </p:cNvPr>
          <p:cNvSpPr txBox="1"/>
          <p:nvPr/>
        </p:nvSpPr>
        <p:spPr>
          <a:xfrm>
            <a:off x="422787" y="265471"/>
            <a:ext cx="429316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Data Insertion :</a:t>
            </a:r>
            <a:endParaRPr lang="en-IN" sz="4400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4895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0B5889-33D5-F6FF-6F83-1B3BF4C69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92" y="590401"/>
            <a:ext cx="5257800" cy="2628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4F187-C74E-D73E-9CF8-F49A37F04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007" y="578212"/>
            <a:ext cx="5257800" cy="26410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BAA4AE-A929-CF82-40EA-F8A0A3367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92" y="3544231"/>
            <a:ext cx="5257799" cy="25512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64A60E-7776-6B95-7194-EE18D310A956}"/>
              </a:ext>
            </a:extLst>
          </p:cNvPr>
          <p:cNvSpPr txBox="1"/>
          <p:nvPr/>
        </p:nvSpPr>
        <p:spPr>
          <a:xfrm>
            <a:off x="422787" y="265471"/>
            <a:ext cx="184731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4400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93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28C503-D96A-EBB1-DB10-8A22CEB8F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016000"/>
            <a:ext cx="7054901" cy="57771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59D818-38E7-F791-DE16-4B65A13D5A0D}"/>
              </a:ext>
            </a:extLst>
          </p:cNvPr>
          <p:cNvSpPr txBox="1"/>
          <p:nvPr/>
        </p:nvSpPr>
        <p:spPr>
          <a:xfrm>
            <a:off x="403122" y="246559"/>
            <a:ext cx="1044388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ER Diagram and schema explanation :</a:t>
            </a:r>
            <a:endParaRPr lang="en-IN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102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C7F8B-ED71-8820-53E2-4E11E9A3B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A3ACC8-C42F-F35C-9B0E-25456B4C8171}"/>
              </a:ext>
            </a:extLst>
          </p:cNvPr>
          <p:cNvSpPr txBox="1"/>
          <p:nvPr/>
        </p:nvSpPr>
        <p:spPr>
          <a:xfrm>
            <a:off x="412955" y="255657"/>
            <a:ext cx="54841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Customer Insights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58DE2-87E6-F622-EB7F-958444CCA0FE}"/>
              </a:ext>
            </a:extLst>
          </p:cNvPr>
          <p:cNvSpPr txBox="1"/>
          <p:nvPr/>
        </p:nvSpPr>
        <p:spPr>
          <a:xfrm>
            <a:off x="412955" y="944021"/>
            <a:ext cx="59538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</a:rPr>
              <a:t>1.How many unique customers have place orders?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FAC3D0-4422-82B2-C2BF-5EA3CA928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446599"/>
            <a:ext cx="6192838" cy="17909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8A1177-F667-AF69-5E65-5F784E043CB2}"/>
              </a:ext>
            </a:extLst>
          </p:cNvPr>
          <p:cNvSpPr txBox="1"/>
          <p:nvPr/>
        </p:nvSpPr>
        <p:spPr>
          <a:xfrm>
            <a:off x="412955" y="3340017"/>
            <a:ext cx="73036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</a:rPr>
              <a:t>2.Which customers have placed the highest number of orders?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91BE59-570B-D4ED-8EDB-3F36CF7A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3891200"/>
            <a:ext cx="6192838" cy="29216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6FAE10-F6A9-F0B7-FA98-88B9415A2A5A}"/>
              </a:ext>
            </a:extLst>
          </p:cNvPr>
          <p:cNvSpPr txBox="1"/>
          <p:nvPr/>
        </p:nvSpPr>
        <p:spPr>
          <a:xfrm>
            <a:off x="6921910" y="1905713"/>
            <a:ext cx="5063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 shows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156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customers in the orders table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03ACC1-5BCD-DAF2-8C3C-0D66838502C2}"/>
              </a:ext>
            </a:extLst>
          </p:cNvPr>
          <p:cNvSpPr txBox="1"/>
          <p:nvPr/>
        </p:nvSpPr>
        <p:spPr>
          <a:xfrm>
            <a:off x="6980903" y="4609485"/>
            <a:ext cx="494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 shows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Jyotika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placed the most orders, with a total of 7 orders.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03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FCA55-6B59-F029-CA14-89244893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373634-5037-1EE3-47F9-3CE19E4FCE6B}"/>
              </a:ext>
            </a:extLst>
          </p:cNvPr>
          <p:cNvSpPr txBox="1"/>
          <p:nvPr/>
        </p:nvSpPr>
        <p:spPr>
          <a:xfrm>
            <a:off x="407486" y="229505"/>
            <a:ext cx="7245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3.What is the total and average purchase value per customer?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4DD2E-A87C-84F9-233F-7ECAC6512E86}"/>
              </a:ext>
            </a:extLst>
          </p:cNvPr>
          <p:cNvSpPr txBox="1"/>
          <p:nvPr/>
        </p:nvSpPr>
        <p:spPr>
          <a:xfrm>
            <a:off x="407486" y="3335247"/>
            <a:ext cx="67730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4.Who are the top 5 customers by total purchase amount?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9B265C-C958-A26A-F7B0-07AC092F1AA8}"/>
              </a:ext>
            </a:extLst>
          </p:cNvPr>
          <p:cNvSpPr txBox="1"/>
          <p:nvPr/>
        </p:nvSpPr>
        <p:spPr>
          <a:xfrm>
            <a:off x="6973633" y="1885335"/>
            <a:ext cx="4624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 Shetty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the highest average  purchase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(2497.85).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4401D-60FC-1D00-AC00-AF1B2C84CA4E}"/>
              </a:ext>
            </a:extLst>
          </p:cNvPr>
          <p:cNvSpPr txBox="1"/>
          <p:nvPr/>
        </p:nvSpPr>
        <p:spPr>
          <a:xfrm>
            <a:off x="6973633" y="4600339"/>
            <a:ext cx="4486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Amit Saxena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highest spending customer with a total purchase of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(7290.79).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98912F-AAB7-A309-B3F0-4A58F53D6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807079"/>
            <a:ext cx="6192837" cy="23507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B1C1C9-1287-0825-E98C-577A3BDD9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55" y="3971977"/>
            <a:ext cx="6153420" cy="26565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577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8AB79-5396-B93D-194A-2497D5CD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42214-F9DD-4DCF-FE16-F184B318A388}"/>
              </a:ext>
            </a:extLst>
          </p:cNvPr>
          <p:cNvSpPr txBox="1"/>
          <p:nvPr/>
        </p:nvSpPr>
        <p:spPr>
          <a:xfrm>
            <a:off x="397503" y="271311"/>
            <a:ext cx="6269665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Product Performance :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7762D-5191-E637-1F97-C1F33683C288}"/>
              </a:ext>
            </a:extLst>
          </p:cNvPr>
          <p:cNvSpPr txBox="1"/>
          <p:nvPr/>
        </p:nvSpPr>
        <p:spPr>
          <a:xfrm>
            <a:off x="443991" y="954965"/>
            <a:ext cx="5354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1.How many products exist in each category?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2A619E-FF8C-24A6-EE12-032B48911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360521"/>
            <a:ext cx="6192837" cy="2405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F21832-C17F-6DF2-34E6-C00FCF2662C2}"/>
              </a:ext>
            </a:extLst>
          </p:cNvPr>
          <p:cNvSpPr txBox="1"/>
          <p:nvPr/>
        </p:nvSpPr>
        <p:spPr>
          <a:xfrm>
            <a:off x="443991" y="3769034"/>
            <a:ext cx="6176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2.What is the average price of products by category?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737E44-FB69-7076-B01C-853BEB2BF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4174590"/>
            <a:ext cx="6192837" cy="25744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3194AB-E8EE-5970-6210-D3D73563774F}"/>
              </a:ext>
            </a:extLst>
          </p:cNvPr>
          <p:cNvSpPr txBox="1"/>
          <p:nvPr/>
        </p:nvSpPr>
        <p:spPr>
          <a:xfrm>
            <a:off x="6901674" y="1901696"/>
            <a:ext cx="47743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Grains &amp; Cereals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Snacks &amp; Confectioneries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number of products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DDB19-D198-ECBC-37F6-66390C679612}"/>
              </a:ext>
            </a:extLst>
          </p:cNvPr>
          <p:cNvSpPr txBox="1"/>
          <p:nvPr/>
        </p:nvSpPr>
        <p:spPr>
          <a:xfrm>
            <a:off x="6940801" y="4593038"/>
            <a:ext cx="44505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Dairy Products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Care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 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Household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categories have the highest average prices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847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9631AA-3BD9-4B42-3FD0-BDB693A84189}"/>
              </a:ext>
            </a:extLst>
          </p:cNvPr>
          <p:cNvSpPr txBox="1"/>
          <p:nvPr/>
        </p:nvSpPr>
        <p:spPr>
          <a:xfrm>
            <a:off x="452114" y="150423"/>
            <a:ext cx="7859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3.Which products have the highest total sales volume (by quantity)?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D010C6-7543-5DF7-D159-1711CE16F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19" y="607650"/>
            <a:ext cx="6183955" cy="2715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E3029B-3CAB-0B84-E5E3-68756AF45F50}"/>
              </a:ext>
            </a:extLst>
          </p:cNvPr>
          <p:cNvSpPr txBox="1"/>
          <p:nvPr/>
        </p:nvSpPr>
        <p:spPr>
          <a:xfrm>
            <a:off x="452114" y="3440307"/>
            <a:ext cx="64908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4.What is the total revenue generated by each product?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49F78-D314-D7C2-DD9A-7145EAAF9CCB}"/>
              </a:ext>
            </a:extLst>
          </p:cNvPr>
          <p:cNvSpPr txBox="1"/>
          <p:nvPr/>
        </p:nvSpPr>
        <p:spPr>
          <a:xfrm>
            <a:off x="6953393" y="1912297"/>
            <a:ext cx="44171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Bath Soap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highest-selling product by quantity, with a total sale of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9B9F2-AA74-729D-9E8D-2EFE29E9BEB7}"/>
              </a:ext>
            </a:extLst>
          </p:cNvPr>
          <p:cNvSpPr txBox="1"/>
          <p:nvPr/>
        </p:nvSpPr>
        <p:spPr>
          <a:xfrm>
            <a:off x="6942993" y="4597501"/>
            <a:ext cx="49147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 Sanitizer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top-performing product in terms of revenue, while Butter generates the least revenue among the listed products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6E218C-9690-28BD-7076-935B700AD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19" y="3864797"/>
            <a:ext cx="6183955" cy="28653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300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3AA51-1B49-A59A-8767-480A5FEF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E88D91-1CE1-1EF1-7EC4-E755FBFDCD22}"/>
              </a:ext>
            </a:extLst>
          </p:cNvPr>
          <p:cNvSpPr txBox="1"/>
          <p:nvPr/>
        </p:nvSpPr>
        <p:spPr>
          <a:xfrm>
            <a:off x="409845" y="853276"/>
            <a:ext cx="6423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5.How do product sales vary by category and supplier?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27737-2CE9-2971-34F2-AE50287E2A7A}"/>
              </a:ext>
            </a:extLst>
          </p:cNvPr>
          <p:cNvSpPr txBox="1"/>
          <p:nvPr/>
        </p:nvSpPr>
        <p:spPr>
          <a:xfrm>
            <a:off x="6958746" y="1700469"/>
            <a:ext cx="50495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Aarya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dominant supplier across most high-revenue categories.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Snacks &amp; Confectioneries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high-demand category with multiple strong suppliers.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Some suppliers (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Karthik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may need sales improvement strategies or better product placement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DAF91C-01B7-AD00-88CE-4C9EB6EB9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541719"/>
            <a:ext cx="6192837" cy="32012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4096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3F69-341B-E158-6711-448735C9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19C41-ED47-5780-90D9-49BCAA005B52}"/>
              </a:ext>
            </a:extLst>
          </p:cNvPr>
          <p:cNvSpPr txBox="1"/>
          <p:nvPr/>
        </p:nvSpPr>
        <p:spPr>
          <a:xfrm>
            <a:off x="214709" y="268859"/>
            <a:ext cx="70567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 Sales and Order Trends :</a:t>
            </a:r>
            <a:endParaRPr lang="en-IN" sz="44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847AD-A0E0-FCCE-3D60-8771AF6B7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512908"/>
            <a:ext cx="6192837" cy="18463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C98D4A-B7BA-3D96-0BCD-7E5B5CF84787}"/>
              </a:ext>
            </a:extLst>
          </p:cNvPr>
          <p:cNvSpPr txBox="1"/>
          <p:nvPr/>
        </p:nvSpPr>
        <p:spPr>
          <a:xfrm>
            <a:off x="393769" y="1016000"/>
            <a:ext cx="5469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1.How many orders have been placed in total?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ACA4B4-FAAA-62EC-997E-91DEE23DFFF7}"/>
              </a:ext>
            </a:extLst>
          </p:cNvPr>
          <p:cNvSpPr txBox="1"/>
          <p:nvPr/>
        </p:nvSpPr>
        <p:spPr>
          <a:xfrm>
            <a:off x="433097" y="3424075"/>
            <a:ext cx="4612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2.What is the average value per order?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BA19AB-77AC-141B-1232-FE7AB2C5C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3889028"/>
            <a:ext cx="6192837" cy="28066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4EBECC-1BD1-96C2-924C-3805515E5B40}"/>
              </a:ext>
            </a:extLst>
          </p:cNvPr>
          <p:cNvSpPr txBox="1"/>
          <p:nvPr/>
        </p:nvSpPr>
        <p:spPr>
          <a:xfrm>
            <a:off x="6934303" y="1910896"/>
            <a:ext cx="48485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orders, the business has a good volume of data to identify top-selling products and optimize inventory and supply.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1C9CB-67D3-6813-FC5C-CB8AA2893569}"/>
              </a:ext>
            </a:extLst>
          </p:cNvPr>
          <p:cNvSpPr txBox="1"/>
          <p:nvPr/>
        </p:nvSpPr>
        <p:spPr>
          <a:xfrm>
            <a:off x="7003478" y="3803367"/>
            <a:ext cx="47102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orders have an average value between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133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2497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Presence of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NULL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indicates incomplete or empty orders that may need data validation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363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8A34-743B-0782-F904-364733547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0D0EDA-1D34-C740-8F10-C06694AC2243}"/>
              </a:ext>
            </a:extLst>
          </p:cNvPr>
          <p:cNvSpPr txBox="1"/>
          <p:nvPr/>
        </p:nvSpPr>
        <p:spPr>
          <a:xfrm>
            <a:off x="416390" y="107179"/>
            <a:ext cx="5609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3.On which dates were the most orders placed?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4C1A8-925A-38FB-7A92-DAA410A07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77" y="602745"/>
            <a:ext cx="6197498" cy="28290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692BFC-4B5E-EA72-B05C-9B9E78F63531}"/>
              </a:ext>
            </a:extLst>
          </p:cNvPr>
          <p:cNvSpPr txBox="1"/>
          <p:nvPr/>
        </p:nvSpPr>
        <p:spPr>
          <a:xfrm>
            <a:off x="416390" y="3527265"/>
            <a:ext cx="7088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4.What are the monthly trends in order volume and revenue?</a:t>
            </a:r>
            <a:endParaRPr lang="en-IN" sz="2000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C13DC-0890-0290-08D5-ED0B48846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76" y="4022831"/>
            <a:ext cx="6197499" cy="25976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73AB70-08AE-C8ED-F33E-92B90F2472F1}"/>
              </a:ext>
            </a:extLst>
          </p:cNvPr>
          <p:cNvSpPr txBox="1"/>
          <p:nvPr/>
        </p:nvSpPr>
        <p:spPr>
          <a:xfrm>
            <a:off x="6908971" y="1528279"/>
            <a:ext cx="45511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highest number of orders in a single day is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dates: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9/10/2022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3/30/2022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975B52-8C8C-50AE-32B1-677A92A057D9}"/>
              </a:ext>
            </a:extLst>
          </p:cNvPr>
          <p:cNvSpPr txBox="1"/>
          <p:nvPr/>
        </p:nvSpPr>
        <p:spPr>
          <a:xfrm>
            <a:off x="6908971" y="4583270"/>
            <a:ext cx="50247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performed strongly in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two months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generating the highest revenue. However, order volume and revenue declined in later months, showing an inconsistent monthly trend.</a:t>
            </a:r>
          </a:p>
        </p:txBody>
      </p:sp>
    </p:spTree>
    <p:extLst>
      <p:ext uri="{BB962C8B-B14F-4D97-AF65-F5344CB8AC3E}">
        <p14:creationId xmlns:p14="http://schemas.microsoft.com/office/powerpoint/2010/main" val="2850594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D233-6CCE-F128-F17A-43EBB865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547F7-3E3A-1D05-6AE3-0F9EA52CF1A4}"/>
              </a:ext>
            </a:extLst>
          </p:cNvPr>
          <p:cNvSpPr txBox="1"/>
          <p:nvPr/>
        </p:nvSpPr>
        <p:spPr>
          <a:xfrm>
            <a:off x="515938" y="1415844"/>
            <a:ext cx="73917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5.How do order patterns vary across weekdays and weekends?</a:t>
            </a: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DC3B9D-7DC2-9A63-ACB7-AFB00D2E9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2412079"/>
            <a:ext cx="6192837" cy="26512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646825-BDA9-641E-6B2C-9EAE4DF35781}"/>
              </a:ext>
            </a:extLst>
          </p:cNvPr>
          <p:cNvSpPr txBox="1"/>
          <p:nvPr/>
        </p:nvSpPr>
        <p:spPr>
          <a:xfrm>
            <a:off x="6919732" y="2550656"/>
            <a:ext cx="45404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Weekdays recorded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210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orders, which is more than double the weekend orders.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business is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weekday-driven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 stock and staffing should be higher on weekdays.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018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3AC3-A3C1-F9B8-A964-8AF0819BF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8ACAD-7A4C-2700-7FF8-BB4F7AA5B4E7}"/>
              </a:ext>
            </a:extLst>
          </p:cNvPr>
          <p:cNvSpPr txBox="1"/>
          <p:nvPr/>
        </p:nvSpPr>
        <p:spPr>
          <a:xfrm>
            <a:off x="396044" y="217839"/>
            <a:ext cx="63289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Supplier Contribution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36497E-DE65-19B6-0DAA-0962D4BAA456}"/>
              </a:ext>
            </a:extLst>
          </p:cNvPr>
          <p:cNvSpPr txBox="1"/>
          <p:nvPr/>
        </p:nvSpPr>
        <p:spPr>
          <a:xfrm>
            <a:off x="396044" y="941469"/>
            <a:ext cx="5767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1.How many suppliers are there in the database?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31BA9-A932-4467-759E-F4830B3F9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426426"/>
            <a:ext cx="6209083" cy="16099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9166F9-9D7B-6012-85DA-BB689660F148}"/>
              </a:ext>
            </a:extLst>
          </p:cNvPr>
          <p:cNvSpPr txBox="1"/>
          <p:nvPr/>
        </p:nvSpPr>
        <p:spPr>
          <a:xfrm>
            <a:off x="434534" y="3198416"/>
            <a:ext cx="5368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2.Which supplier provides the most products?</a:t>
            </a:r>
            <a:endParaRPr lang="en-IN" sz="2000" dirty="0">
              <a:solidFill>
                <a:srgbClr val="0070C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F74835-78E7-35D1-84CD-C955C28FD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3716338"/>
            <a:ext cx="6192837" cy="27520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F713F6-1964-4B48-15D0-1837D02667BE}"/>
              </a:ext>
            </a:extLst>
          </p:cNvPr>
          <p:cNvSpPr txBox="1"/>
          <p:nvPr/>
        </p:nvSpPr>
        <p:spPr>
          <a:xfrm>
            <a:off x="6973223" y="1897033"/>
            <a:ext cx="4486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 in total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31E687-68D0-9997-BD17-022F322B0472}"/>
              </a:ext>
            </a:extLst>
          </p:cNvPr>
          <p:cNvSpPr txBox="1"/>
          <p:nvPr/>
        </p:nvSpPr>
        <p:spPr>
          <a:xfrm>
            <a:off x="6973223" y="4154741"/>
            <a:ext cx="46038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Aarya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plays a key role in product availability and variety.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makes Aarya the primary and most diversified supplier in the system.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634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32328-583F-F628-DE0B-34EE4E88C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2E40BE-7CBD-3072-DBC6-AA0440811AA5}"/>
              </a:ext>
            </a:extLst>
          </p:cNvPr>
          <p:cNvSpPr txBox="1"/>
          <p:nvPr/>
        </p:nvSpPr>
        <p:spPr>
          <a:xfrm>
            <a:off x="412955" y="233450"/>
            <a:ext cx="69605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3.What is the average price of products from each supplier?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EE5B71-298A-E9DC-6FA2-9F8F68A23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672115"/>
            <a:ext cx="6179231" cy="26312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2F1A80-2C18-36B0-48A1-2484DBC28CD7}"/>
              </a:ext>
            </a:extLst>
          </p:cNvPr>
          <p:cNvSpPr txBox="1"/>
          <p:nvPr/>
        </p:nvSpPr>
        <p:spPr>
          <a:xfrm>
            <a:off x="412955" y="3494958"/>
            <a:ext cx="771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4.Which suppliers contribute the most to total product sales (by revenue)?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69165E-3412-17D2-5973-B0F68D8E6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3963587"/>
            <a:ext cx="6179231" cy="27621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8478C7-CE7B-271A-560F-8C1D7B62E268}"/>
              </a:ext>
            </a:extLst>
          </p:cNvPr>
          <p:cNvSpPr txBox="1"/>
          <p:nvPr/>
        </p:nvSpPr>
        <p:spPr>
          <a:xfrm>
            <a:off x="6946403" y="1744028"/>
            <a:ext cx="47296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Sai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the highest overall average product price, indicating higher-priced products compared to other suppliers.</a:t>
            </a:r>
          </a:p>
          <a:p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02256-976B-DCB9-6473-1AB14510797E}"/>
              </a:ext>
            </a:extLst>
          </p:cNvPr>
          <p:cNvSpPr txBox="1"/>
          <p:nvPr/>
        </p:nvSpPr>
        <p:spPr>
          <a:xfrm>
            <a:off x="6946403" y="4301613"/>
            <a:ext cx="50020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 with a broader product range and higher sales volume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(Aarya)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maximum revenue, highlighting the importance of strong supplier partnerships for business growth.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77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AD958-3FAA-0AE8-D04C-700626EF2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DD17D-77D7-2A72-559B-08F38000B318}"/>
              </a:ext>
            </a:extLst>
          </p:cNvPr>
          <p:cNvSpPr txBox="1"/>
          <p:nvPr/>
        </p:nvSpPr>
        <p:spPr>
          <a:xfrm>
            <a:off x="429601" y="288546"/>
            <a:ext cx="68050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Employee Performance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FAAD0-EC4C-DBDE-12C8-2C23C3871154}"/>
              </a:ext>
            </a:extLst>
          </p:cNvPr>
          <p:cNvSpPr txBox="1"/>
          <p:nvPr/>
        </p:nvSpPr>
        <p:spPr>
          <a:xfrm>
            <a:off x="429601" y="920203"/>
            <a:ext cx="5740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1.How many employees have processed orders?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A629DA-EEB1-4FA5-3520-5091EA608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388438"/>
            <a:ext cx="6188138" cy="17814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F54C44-D220-A6D9-1DC9-DA413829A3FF}"/>
              </a:ext>
            </a:extLst>
          </p:cNvPr>
          <p:cNvSpPr txBox="1"/>
          <p:nvPr/>
        </p:nvSpPr>
        <p:spPr>
          <a:xfrm>
            <a:off x="429601" y="3237987"/>
            <a:ext cx="6024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2.Which employees have handled the most orders?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B1291A-3774-4D4A-AE10-A314986CC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00" y="3706222"/>
            <a:ext cx="6274475" cy="29063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A00B0-E6B9-F3DD-48E6-E25C8D090DAE}"/>
              </a:ext>
            </a:extLst>
          </p:cNvPr>
          <p:cNvSpPr txBox="1"/>
          <p:nvPr/>
        </p:nvSpPr>
        <p:spPr>
          <a:xfrm rot="10800000" flipH="1" flipV="1">
            <a:off x="6953967" y="1925207"/>
            <a:ext cx="4427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total of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employees have processed customer orders.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7C25F9-4792-6463-11C6-7B7A4F50443B}"/>
              </a:ext>
            </a:extLst>
          </p:cNvPr>
          <p:cNvSpPr txBox="1"/>
          <p:nvPr/>
        </p:nvSpPr>
        <p:spPr>
          <a:xfrm>
            <a:off x="6953967" y="4497694"/>
            <a:ext cx="46775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Diya Sharma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top-performing employee, indicating high efficiency and a significant contribution to order processing operations.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30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70B9E-89F4-4CD4-4780-B3BA1903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BA8848-F993-83F1-2094-EC8DAF8282A0}"/>
              </a:ext>
            </a:extLst>
          </p:cNvPr>
          <p:cNvSpPr txBox="1"/>
          <p:nvPr/>
        </p:nvSpPr>
        <p:spPr>
          <a:xfrm>
            <a:off x="420844" y="157398"/>
            <a:ext cx="7135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3.What is the total sales value processed by each employee?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1AB8FF-8645-2FC2-0D18-1203D7BE9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674525"/>
            <a:ext cx="6192837" cy="26704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01BAAE-7860-6AD0-422C-929ACC22084A}"/>
              </a:ext>
            </a:extLst>
          </p:cNvPr>
          <p:cNvSpPr txBox="1"/>
          <p:nvPr/>
        </p:nvSpPr>
        <p:spPr>
          <a:xfrm>
            <a:off x="420844" y="3526223"/>
            <a:ext cx="6779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4.What is the average order value handled per employee?</a:t>
            </a:r>
            <a:endParaRPr lang="en-US" sz="2000" b="1" dirty="0">
              <a:solidFill>
                <a:srgbClr val="0070C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941C23-BD16-0315-C6CF-A5A32189B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3978048"/>
            <a:ext cx="5966057" cy="2722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695701-92E9-34E3-C76D-9AAFF231055D}"/>
              </a:ext>
            </a:extLst>
          </p:cNvPr>
          <p:cNvSpPr txBox="1"/>
          <p:nvPr/>
        </p:nvSpPr>
        <p:spPr>
          <a:xfrm>
            <a:off x="6998864" y="1947340"/>
            <a:ext cx="49016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Aditya Singh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the highest total sales, amounting to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₹79,252.29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among all employees.</a:t>
            </a:r>
          </a:p>
          <a:p>
            <a:endParaRPr lang="en-US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8400C-97DE-8FAB-377F-1653E5094295}"/>
              </a:ext>
            </a:extLst>
          </p:cNvPr>
          <p:cNvSpPr txBox="1"/>
          <p:nvPr/>
        </p:nvSpPr>
        <p:spPr>
          <a:xfrm>
            <a:off x="6998864" y="4437220"/>
            <a:ext cx="44612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Aarav Kumar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the highest average order value (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₹1,073.53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despite having fewer total orders compared to others.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215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439F-0886-51C6-0537-9E700216C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61F95-25F8-4EB2-C0FD-B5A866A9CE8C}"/>
              </a:ext>
            </a:extLst>
          </p:cNvPr>
          <p:cNvSpPr txBox="1"/>
          <p:nvPr/>
        </p:nvSpPr>
        <p:spPr>
          <a:xfrm>
            <a:off x="412956" y="266103"/>
            <a:ext cx="6962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Order Details Deep Dive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C2C4B-B284-736F-E07E-1D2A9F8743E0}"/>
              </a:ext>
            </a:extLst>
          </p:cNvPr>
          <p:cNvSpPr txBox="1"/>
          <p:nvPr/>
        </p:nvSpPr>
        <p:spPr>
          <a:xfrm>
            <a:off x="422784" y="956253"/>
            <a:ext cx="7847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1.What is the relationship between quantity ordered and total price?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C808E-CD16-B1F9-DB88-926C4E83A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59" y="3976577"/>
            <a:ext cx="6166516" cy="2714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2AD546-8190-AE62-E1ED-CDC97CDFCEC7}"/>
              </a:ext>
            </a:extLst>
          </p:cNvPr>
          <p:cNvSpPr txBox="1"/>
          <p:nvPr/>
        </p:nvSpPr>
        <p:spPr>
          <a:xfrm>
            <a:off x="429081" y="3455703"/>
            <a:ext cx="6106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2.What is the average quantity ordered per product?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A3C2E-7286-D934-C646-C8D7B2C336CC}"/>
              </a:ext>
            </a:extLst>
          </p:cNvPr>
          <p:cNvSpPr txBox="1"/>
          <p:nvPr/>
        </p:nvSpPr>
        <p:spPr>
          <a:xfrm>
            <a:off x="6991754" y="4578308"/>
            <a:ext cx="44684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like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Ghee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Moong Dal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Basmati Rice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Paneer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higher average quantity per order, indicating bulk purchases.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E40E94-26DD-D906-B89B-250A962B4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59" y="1447710"/>
            <a:ext cx="6166516" cy="20079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A7640B-F9F2-2F0E-A2EE-BBCF2A349F29}"/>
              </a:ext>
            </a:extLst>
          </p:cNvPr>
          <p:cNvSpPr txBox="1"/>
          <p:nvPr/>
        </p:nvSpPr>
        <p:spPr>
          <a:xfrm>
            <a:off x="6953349" y="1892842"/>
            <a:ext cx="4468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direct (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relationship between quantity and total price. As quantity increases, total price increases proportionally.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631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A9661-C1FE-2C04-B6EA-BF5DAD67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6C0844-EDC3-3BBF-C3FE-D2CAAF1A297F}"/>
              </a:ext>
            </a:extLst>
          </p:cNvPr>
          <p:cNvSpPr txBox="1"/>
          <p:nvPr/>
        </p:nvSpPr>
        <p:spPr>
          <a:xfrm>
            <a:off x="443023" y="994586"/>
            <a:ext cx="6947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</a:rPr>
              <a:t>3.How does the unit price vary across products and orders?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8A87A5-3AEA-A6FC-DEA4-7BB1B8BB2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8" y="1532985"/>
            <a:ext cx="6192837" cy="37920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6BE160-3FF1-11AB-ADDC-50FB8F3F4A01}"/>
              </a:ext>
            </a:extLst>
          </p:cNvPr>
          <p:cNvSpPr txBox="1"/>
          <p:nvPr/>
        </p:nvSpPr>
        <p:spPr>
          <a:xfrm>
            <a:off x="7032625" y="1690061"/>
            <a:ext cx="471022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such as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Soya Sauce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Sanitizer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Ghee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Paneer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have the highest average prices among all products.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These products are positioned as premium or fixed-price items, suggesting limited discounting and strong price control, which can help maintain profit margins.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035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610D24-9B99-EBB7-BC8A-6D11EE8D3AD1}"/>
              </a:ext>
            </a:extLst>
          </p:cNvPr>
          <p:cNvSpPr txBox="1"/>
          <p:nvPr/>
        </p:nvSpPr>
        <p:spPr>
          <a:xfrm>
            <a:off x="428847" y="262434"/>
            <a:ext cx="5667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Conclusion</a:t>
            </a:r>
            <a:r>
              <a:rPr lang="en-IN" sz="32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DD5D4D-64DC-0A12-0A72-824106CD8B54}"/>
              </a:ext>
            </a:extLst>
          </p:cNvPr>
          <p:cNvSpPr txBox="1"/>
          <p:nvPr/>
        </p:nvSpPr>
        <p:spPr>
          <a:xfrm>
            <a:off x="515938" y="1190274"/>
            <a:ext cx="103561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store has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300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orders, showing consistent customer activity.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Weekdays generate the majority of sales (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 orders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so they are the peak business days.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Top-selling products are essential daily items like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Eggs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Noodles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Soybean Oil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which drive most of the revenue.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Aarya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leading supplier, providing the highest number of products and contributing to top category sales.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Care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Grains &amp; Cereals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Snacks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the highest revenue-generating categories.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customers have an average order value around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133–2497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steady spending behavior.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37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1135</Words>
  <Application>Microsoft Office PowerPoint</Application>
  <PresentationFormat>Widescreen</PresentationFormat>
  <Paragraphs>113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Calibri</vt:lpstr>
      <vt:lpstr>Libre Baskerville</vt:lpstr>
      <vt:lpstr>Arial</vt:lpstr>
      <vt:lpstr>Times New Roman</vt:lpstr>
      <vt:lpstr>Wingdings</vt:lpstr>
      <vt:lpstr>Lato Black</vt:lpstr>
      <vt:lpstr>Office Theme</vt:lpstr>
      <vt:lpstr>PowerPoint Presentation</vt:lpstr>
      <vt:lpstr>PowerPoint Presentation</vt:lpstr>
      <vt:lpstr>Agenda (This should be the PPT flow)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santhosh kumar</cp:lastModifiedBy>
  <cp:revision>21</cp:revision>
  <dcterms:created xsi:type="dcterms:W3CDTF">2021-02-16T05:19:01Z</dcterms:created>
  <dcterms:modified xsi:type="dcterms:W3CDTF">2026-02-28T07:33:40Z</dcterms:modified>
</cp:coreProperties>
</file>